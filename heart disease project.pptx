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sldIdLst>
    <p:sldId id="306" r:id="rId5"/>
    <p:sldId id="282" r:id="rId6"/>
    <p:sldId id="305" r:id="rId7"/>
    <p:sldId id="288" r:id="rId8"/>
    <p:sldId id="284" r:id="rId9"/>
    <p:sldId id="313" r:id="rId10"/>
    <p:sldId id="286" r:id="rId11"/>
    <p:sldId id="289" r:id="rId12"/>
    <p:sldId id="290" r:id="rId13"/>
    <p:sldId id="294" r:id="rId14"/>
    <p:sldId id="293" r:id="rId15"/>
    <p:sldId id="295" r:id="rId16"/>
    <p:sldId id="311" r:id="rId17"/>
    <p:sldId id="296" r:id="rId18"/>
    <p:sldId id="309" r:id="rId19"/>
    <p:sldId id="310" r:id="rId20"/>
    <p:sldId id="292" r:id="rId21"/>
    <p:sldId id="308" r:id="rId22"/>
    <p:sldId id="297" r:id="rId23"/>
    <p:sldId id="312" r:id="rId24"/>
    <p:sldId id="298" r:id="rId25"/>
    <p:sldId id="304" r:id="rId26"/>
    <p:sldId id="299" r:id="rId27"/>
    <p:sldId id="300" r:id="rId28"/>
    <p:sldId id="301" r:id="rId29"/>
    <p:sldId id="302" r:id="rId30"/>
    <p:sldId id="303" r:id="rId31"/>
    <p:sldId id="30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3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9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13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66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23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9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55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273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8090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592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05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3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4694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137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40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B540A-2562-544A-68DE-853A90061941}"/>
              </a:ext>
            </a:extLst>
          </p:cNvPr>
          <p:cNvSpPr/>
          <p:nvPr/>
        </p:nvSpPr>
        <p:spPr>
          <a:xfrm>
            <a:off x="3190876" y="1990725"/>
            <a:ext cx="8403648" cy="3400425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Prediction and Analysis of Heart Disease Using Machine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C269A-7568-A653-2C0A-04F65B51C5EF}"/>
              </a:ext>
            </a:extLst>
          </p:cNvPr>
          <p:cNvSpPr txBox="1"/>
          <p:nvPr/>
        </p:nvSpPr>
        <p:spPr>
          <a:xfrm>
            <a:off x="8115300" y="4610100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Ananya Rai S</a:t>
            </a:r>
          </a:p>
        </p:txBody>
      </p:sp>
    </p:spTree>
    <p:extLst>
      <p:ext uri="{BB962C8B-B14F-4D97-AF65-F5344CB8AC3E}">
        <p14:creationId xmlns:p14="http://schemas.microsoft.com/office/powerpoint/2010/main" val="391907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77BA-8AAC-3EFB-30FA-DDA1173A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03" y="336061"/>
            <a:ext cx="10353762" cy="12573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EDC0DD-8401-90C4-F7C5-251F8AFF1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0368" y="1694150"/>
            <a:ext cx="111112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can help reduce risks and save lives.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availability of medical data, machine learning models can be used to predict heart disease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patient health parameters such as age, blood pressure, cholesterol, and heart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predict whether a person has heart disease or not, helping doctors in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257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B16D-902A-FF3A-499A-F4FFC730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81" y="237461"/>
            <a:ext cx="10353762" cy="326065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Objective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96A4-0BE1-B7D8-BBF9-5D202C60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054396"/>
            <a:ext cx="10353762" cy="45790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can predict heart disease using patient health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identifying high-risk patients at an early stage.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supports better medical decision-making.</a:t>
            </a:r>
          </a:p>
          <a:p>
            <a:pPr marL="3690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methods can be time-consuming and may miss early signs.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person has heart disease based on medical attributes using Python.</a:t>
            </a:r>
          </a:p>
          <a:p>
            <a:pPr marL="369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434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0B15006-860F-3691-7A40-121A4DEF3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78" y="691025"/>
            <a:ext cx="6661028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Age: Age of the patient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Sex: Gender of the patient (M = Male, F = Female).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Type: Type of chest pain experienced (ATA, NAP, ASY, TA).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heart-related pain,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heart-related pain due to low blood flow, NAP-not related to the heart,  ASY-no chest pain symptoms.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Resting BP: Resting blood pressure measured in mm Hg.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Cholesterol: Serum cholesterol level in mg/dL.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Fasting BS: Fasting blood sugar (1 if &gt;120 mg/dL, else 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Resting ECG: Resting electrocardiogram results (Normal, ST, LVH).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MaxHR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Maximum heart rate achieved during exercise.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Exercise Angina: Exercise-induced angina (Y = Yes, N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 peak: ST depression induced by exercise relative to 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ST_Slope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Slope of the peak exercise ST segment (Up, Flat, Down).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1EE66370-01F8-F621-005E-E60CBCAC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106" y="1213550"/>
            <a:ext cx="5149516" cy="45238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6CFB7E-19EE-58DB-9764-D9ABD2DBA6B4}"/>
              </a:ext>
            </a:extLst>
          </p:cNvPr>
          <p:cNvSpPr txBox="1"/>
          <p:nvPr/>
        </p:nvSpPr>
        <p:spPr>
          <a:xfrm>
            <a:off x="1685514" y="105104"/>
            <a:ext cx="6661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56758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65A0-E6C1-E9F2-3C95-580ED71D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05" y="133894"/>
            <a:ext cx="10353762" cy="433137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DATA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F2879-DE58-287F-FA90-50B677896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5674" y="1702554"/>
            <a:ext cx="6203373" cy="345289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A9C64-2CA4-6D56-1D87-593DBD9A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278" y="1728346"/>
            <a:ext cx="2469289" cy="32554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C0BB38-5D31-999D-EE10-972C6FA073AF}"/>
              </a:ext>
            </a:extLst>
          </p:cNvPr>
          <p:cNvSpPr txBox="1"/>
          <p:nvPr/>
        </p:nvSpPr>
        <p:spPr>
          <a:xfrm>
            <a:off x="417542" y="5455227"/>
            <a:ext cx="105363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0 values in the Cholesterol column are replaced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0 is not a valid cholesterol value.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missing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cholesterol values are filled with the average cholesterol of their Heart Disease group (0 or 1)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A284F-B0A9-98B8-000E-2F4D3ABB8362}"/>
              </a:ext>
            </a:extLst>
          </p:cNvPr>
          <p:cNvSpPr txBox="1"/>
          <p:nvPr/>
        </p:nvSpPr>
        <p:spPr>
          <a:xfrm>
            <a:off x="417542" y="887596"/>
            <a:ext cx="10868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is the process of fixing or removing incorrect, missing, or duplicate data from a dataset.</a:t>
            </a:r>
          </a:p>
        </p:txBody>
      </p:sp>
    </p:spTree>
    <p:extLst>
      <p:ext uri="{BB962C8B-B14F-4D97-AF65-F5344CB8AC3E}">
        <p14:creationId xmlns:p14="http://schemas.microsoft.com/office/powerpoint/2010/main" val="174039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DE9D-3632-2C3E-EC10-959F9B57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98B8-3A11-D97E-C4C4-43E56428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1982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Visualization means showing data in the form of pictures or graphs so that it becomes easy to understand patterns, trends, and comparisons.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Common types of visualizations: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compare categories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 – show change over time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– show relationship between two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– show data distribution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map – show intensity or correlation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 show proportions or percentage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 - Shows the frequency (count) of each category in a categorical variable.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8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8390-220E-D0D9-E683-9F3FD25E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7428"/>
            <a:ext cx="10353762" cy="322117"/>
          </a:xfrm>
        </p:spPr>
        <p:txBody>
          <a:bodyPr>
            <a:normAutofit fontScale="90000"/>
          </a:bodyPr>
          <a:lstStyle/>
          <a:p>
            <a:pPr algn="l"/>
            <a:r>
              <a:rPr lang="en-US" sz="3100" b="1" dirty="0">
                <a:effectLst/>
              </a:rPr>
              <a:t>Heart Disease Distribution by Age</a:t>
            </a:r>
            <a:br>
              <a:rPr lang="en-US" dirty="0">
                <a:effectLst/>
              </a:rPr>
            </a:br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6A4817-7FFA-3758-FD67-DA669956B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4482" y="737157"/>
            <a:ext cx="4693226" cy="30341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49726-304D-518B-5C85-38ACC5A92987}"/>
              </a:ext>
            </a:extLst>
          </p:cNvPr>
          <p:cNvSpPr txBox="1"/>
          <p:nvPr/>
        </p:nvSpPr>
        <p:spPr>
          <a:xfrm>
            <a:off x="119952" y="757261"/>
            <a:ext cx="618733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histogram shows how heart disease cases (1) and non–heart disease cases (0) are distributed across age groups.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1.Very few people aged 20–30Almost no cases of heart disease.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2.Age 30–40: Risk begins to appear.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without heart disease are more than those with heart disease.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disease cases start to increase, but moderately.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Age 40–50: Sharp increase.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count becomes significant.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starting age where heart disease becomes common.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Age 50–60: Highest counts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number of heart disease cases occur here.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heart disease and healthy groups are around 200+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50–60 is the most critical range.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Age 60–70: High risk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people are slightly fewer than 50–60.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Proportionally, more people have heart disease than those without in this age range.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Age 70–80: Decline in counts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total individuals.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Heart disease still present in good proportion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shows older people remain high-risk even though sample size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000" lvl="1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CD316-716B-07F8-653A-7E91519B462C}"/>
              </a:ext>
            </a:extLst>
          </p:cNvPr>
          <p:cNvSpPr txBox="1"/>
          <p:nvPr/>
        </p:nvSpPr>
        <p:spPr>
          <a:xfrm>
            <a:off x="6580910" y="3771302"/>
            <a:ext cx="528550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4000"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6997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strongly age-dependent.(The older a person gets, the higher the probability of heart disease.)</a:t>
            </a:r>
          </a:p>
          <a:p>
            <a:pPr marL="6997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rises sharply after age 30 The frequency of heart disease cases jumps from 40–50 onwards.</a:t>
            </a:r>
          </a:p>
          <a:p>
            <a:pPr marL="6997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risk is at 50–60 The highest number of heart disease cases and high total patients.</a:t>
            </a:r>
          </a:p>
          <a:p>
            <a:pPr marL="6997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proportion of heart disease after age 60 Even with fewer total people, more of them are heart patients.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89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5F1B-B445-75B8-880C-F0E311CE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7" y="394860"/>
            <a:ext cx="10353762" cy="14547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effectLst/>
              </a:rPr>
              <a:t>Heart Disease by Chest Pain Type</a:t>
            </a:r>
            <a:br>
              <a:rPr lang="en-US" dirty="0">
                <a:effectLst/>
              </a:rPr>
            </a:br>
            <a:endParaRPr lang="en-US" sz="24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9AA478C-D580-2404-2C8D-310998DA3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0" y="1488557"/>
            <a:ext cx="3794050" cy="34024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2615F-9198-1717-06CC-40B836D7C0EE}"/>
              </a:ext>
            </a:extLst>
          </p:cNvPr>
          <p:cNvSpPr txBox="1"/>
          <p:nvPr/>
        </p:nvSpPr>
        <p:spPr>
          <a:xfrm>
            <a:off x="168350" y="1105786"/>
            <a:ext cx="81569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count plot showing how different chest pain types (ATA, NAP, ASY, TA)relate to the presence of heart disease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1.ATA(Atypical Angina- unusual heart-related pain) and NAP(Non-Anginal Pain- not related to the heart) categories mostly have no heart disease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ATA: 149 healthy vs 24 heart disease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NAP: 131 healthy vs 72 heart disease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some heart disease cases exist, most people in ATA/NAP are healthy.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ASY (Asymptomatic-no chest pain symptoms) has the highest heart disease cases.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ASY chest pain have extremely high heart disease counts (392).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strongest indicator of heart disease.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TA (Typical Angina - heart-related pain due to low blood flow) has fewer people overall But distribution is almost equal between healthy and heart disease.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 chest pain type is the strongest predictor of heart disease.(People who do not show chest pain symptoms (ASY) are the most likely to have heart disease.)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 chest pain is mostly found in healthy people. This pattern shows ATA is generally not a dangerous sign.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 has a moderate risk Higher counts in healthy people but also a considerable number with heart disease.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is low-frequency but balanced This doesn’t show a strong differentiation.</a:t>
            </a:r>
          </a:p>
        </p:txBody>
      </p:sp>
    </p:spTree>
    <p:extLst>
      <p:ext uri="{BB962C8B-B14F-4D97-AF65-F5344CB8AC3E}">
        <p14:creationId xmlns:p14="http://schemas.microsoft.com/office/powerpoint/2010/main" val="136552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0DB7-D07D-4B63-F7F9-A05CA96F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71" y="95980"/>
            <a:ext cx="10353762" cy="4705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effectLst/>
              </a:rPr>
              <a:t>Heart Disease by Sex</a:t>
            </a:r>
            <a:br>
              <a:rPr lang="en-US" sz="2800" b="1" dirty="0">
                <a:effectLst/>
              </a:rPr>
            </a:br>
            <a:endParaRPr lang="en-US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7340E-B5BE-5CC3-3629-585222D43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1651" y="1296755"/>
            <a:ext cx="5759901" cy="33607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5D82F-83F9-C590-275D-DD2DD443F8B1}"/>
              </a:ext>
            </a:extLst>
          </p:cNvPr>
          <p:cNvSpPr txBox="1"/>
          <p:nvPr/>
        </p:nvSpPr>
        <p:spPr>
          <a:xfrm>
            <a:off x="170448" y="700408"/>
            <a:ext cx="6170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count plot comparing Sex (M/F) with the presence of Heart Disease.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much more common in males than females.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 show a much higher risk of heart disease.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Females show a lower prevalence of heart disease.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why men show more heart disease: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Blood pressure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Smoking rates and Alcohol consumption.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and lifestyle‐related risks</a:t>
            </a:r>
          </a:p>
          <a:p>
            <a:pPr marL="3690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379800" indent="-342900"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Improvements</a:t>
            </a:r>
          </a:p>
          <a:p>
            <a:pPr marL="3226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 exercise (30–45 min/day)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salt, sugar, and oily food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fruits, vegetables, whole grains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Control Risk Factors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BP, Cholesterol, Blood Sugar especially after age 35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medication if needed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Stop smoking &amp; Reduce alcohol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Stress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Yoga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sleep.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long-term untreated stress</a:t>
            </a:r>
          </a:p>
        </p:txBody>
      </p:sp>
    </p:spTree>
    <p:extLst>
      <p:ext uri="{BB962C8B-B14F-4D97-AF65-F5344CB8AC3E}">
        <p14:creationId xmlns:p14="http://schemas.microsoft.com/office/powerpoint/2010/main" val="260193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0E01-081A-FFA0-97D5-00E0C579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360518"/>
            <a:ext cx="9987288" cy="62347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ffectLst/>
              </a:rPr>
              <a:t>Cholesterol Distribution</a:t>
            </a:r>
            <a:br>
              <a:rPr lang="en-US" sz="3200" b="1" dirty="0">
                <a:effectLst/>
              </a:rPr>
            </a:br>
            <a:endParaRPr lang="en-US" sz="32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A06DE2-DF42-4EDD-5C95-1CF00F863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973" y="1181099"/>
            <a:ext cx="6307282" cy="284710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41E997-C48A-CA5C-B5EB-737E663C73C6}"/>
              </a:ext>
            </a:extLst>
          </p:cNvPr>
          <p:cNvSpPr txBox="1"/>
          <p:nvPr/>
        </p:nvSpPr>
        <p:spPr>
          <a:xfrm>
            <a:off x="384464" y="4145973"/>
            <a:ext cx="10931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cholesterol distribution.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borderline and high cholesterol (200–260 mg/dL) show a higher rate of heart disease.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cholesterol fewer heart disease cases.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 alone does not determine heart disease, but it contributes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387782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58B56-5133-EFF0-9D13-45ED6E4C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06" y="160421"/>
            <a:ext cx="10353762" cy="67540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Fasting Blood Sugar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4F8EB0-1906-6CD7-4842-6DEBDC649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446" y="1703929"/>
            <a:ext cx="5326428" cy="290945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62FB44-E2FA-6AA0-9E00-3A0A0396A8D2}"/>
              </a:ext>
            </a:extLst>
          </p:cNvPr>
          <p:cNvSpPr txBox="1"/>
          <p:nvPr/>
        </p:nvSpPr>
        <p:spPr>
          <a:xfrm>
            <a:off x="6248400" y="1573894"/>
            <a:ext cx="508770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1.The Fasting Blood Sugar = 0 (Normal    &lt;100mg/dl).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Even with normal fasting sugar, many people still have heart disease.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Normal sugar does not guarantee a healthy heart.</a:t>
            </a:r>
          </a:p>
          <a:p>
            <a:endParaRPr lang="en-US" sz="2000" dirty="0"/>
          </a:p>
          <a:p>
            <a:r>
              <a:rPr lang="en-US" sz="2000" dirty="0"/>
              <a:t>2. The Fasting Blood Sugar = 1 (High &gt;120)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High fasting blood sugar strongly increases heart disease risk.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People with diabetes (or prediabetes) are at higher risk.</a:t>
            </a:r>
          </a:p>
        </p:txBody>
      </p:sp>
    </p:spTree>
    <p:extLst>
      <p:ext uri="{BB962C8B-B14F-4D97-AF65-F5344CB8AC3E}">
        <p14:creationId xmlns:p14="http://schemas.microsoft.com/office/powerpoint/2010/main" val="400328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5FD2-2258-CF68-C695-92B70A5C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83" y="509154"/>
            <a:ext cx="10353762" cy="51955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effectLst/>
              </a:rPr>
              <a:t>Resting ECG Results</a:t>
            </a: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66897-2B1F-D64C-C871-37B583E87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3718" y="965202"/>
            <a:ext cx="5756910" cy="26912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DE234-E7FC-65AC-0CFF-A7D2EF329995}"/>
              </a:ext>
            </a:extLst>
          </p:cNvPr>
          <p:cNvSpPr txBox="1"/>
          <p:nvPr/>
        </p:nvSpPr>
        <p:spPr>
          <a:xfrm>
            <a:off x="617782" y="3893557"/>
            <a:ext cx="112694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ECG(Heart rhythm looks normal):Many people are healthy, but some still have heart disease.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abnormality(ECG shows stress or damage in the heart): More people have heart disease than normal cases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LVH(Left Ventricular Hypertrophy-Hearts left chamber is thickened): Also shows higher heart disease cases than healthy ones.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abnormal ECG results (ST or LVH) are more likely to have heart disease, while normal ECG is seen more in people without heart disease.</a:t>
            </a:r>
          </a:p>
        </p:txBody>
      </p:sp>
    </p:spTree>
    <p:extLst>
      <p:ext uri="{BB962C8B-B14F-4D97-AF65-F5344CB8AC3E}">
        <p14:creationId xmlns:p14="http://schemas.microsoft.com/office/powerpoint/2010/main" val="144653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45A3-F675-FF61-2838-BCD41F16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27250"/>
            <a:ext cx="9404723" cy="687150"/>
          </a:xfrm>
        </p:spPr>
        <p:txBody>
          <a:bodyPr/>
          <a:lstStyle/>
          <a:p>
            <a:r>
              <a:rPr lang="en-US" sz="3200" b="1" dirty="0"/>
              <a:t>ST Slope vs Heart Disease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D6739A-9ED5-D533-DB3E-76FC041B9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4193" y="2327021"/>
            <a:ext cx="4336156" cy="32464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AA7182-7D41-8BCA-6F14-E8B3DAEB1CC0}"/>
              </a:ext>
            </a:extLst>
          </p:cNvPr>
          <p:cNvSpPr txBox="1"/>
          <p:nvPr/>
        </p:nvSpPr>
        <p:spPr>
          <a:xfrm>
            <a:off x="391892" y="995566"/>
            <a:ext cx="588364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count plot illustrates the relationship between the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segment slope observed on an electrocardiogram (ECG) and the presence of heart disease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slope: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do not have heart disease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healthier heart condition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slope: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number of heart disease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associated with heart disease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slope: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people overall, but more cases with heart disease than without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higher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7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1C31-8274-4B8A-3E2F-F34F2E06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693" y="395818"/>
            <a:ext cx="10353762" cy="60157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effectLst/>
              </a:rPr>
              <a:t>Maximum Heart Rate (</a:t>
            </a:r>
            <a:r>
              <a:rPr lang="en-US" sz="3600" b="1" dirty="0" err="1">
                <a:effectLst/>
              </a:rPr>
              <a:t>MaxHR</a:t>
            </a:r>
            <a:r>
              <a:rPr lang="en-US" sz="3600" b="1" dirty="0">
                <a:effectLst/>
              </a:rPr>
              <a:t>)</a:t>
            </a:r>
            <a:br>
              <a:rPr lang="en-US" sz="2400" dirty="0">
                <a:effectLst/>
              </a:rPr>
            </a:b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892453-02C1-9CF7-C4F7-2033989AA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51679"/>
            <a:ext cx="5967664" cy="34288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1C670-22FF-2A9A-8184-58030E9393F9}"/>
              </a:ext>
            </a:extLst>
          </p:cNvPr>
          <p:cNvSpPr txBox="1"/>
          <p:nvPr/>
        </p:nvSpPr>
        <p:spPr>
          <a:xfrm>
            <a:off x="0" y="1767176"/>
            <a:ext cx="607157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.People without heart disease (No):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MaxHR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mostly between 135 – 165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people reach 200+ bpm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without heart disease generally have a higher maximum heart rates.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People with heart disease (Yes):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MaxHR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125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values between 110 – 145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very low values: 60–70 bpm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heart disease have significantly lower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MaxHR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0150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C0C4-E118-0770-D89D-ECBF6177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92" y="265682"/>
            <a:ext cx="9404723" cy="544809"/>
          </a:xfrm>
        </p:spPr>
        <p:txBody>
          <a:bodyPr/>
          <a:lstStyle/>
          <a:p>
            <a:r>
              <a:rPr lang="en-US" sz="3200" b="1" dirty="0"/>
              <a:t>Old peak vs Heart Disease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40CA21-5944-B6F8-D466-68D3ACB8F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8248" y="1541521"/>
            <a:ext cx="4160881" cy="333784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0D2DB2-B5B6-4C3D-C610-FE756C0BFBC5}"/>
              </a:ext>
            </a:extLst>
          </p:cNvPr>
          <p:cNvSpPr txBox="1"/>
          <p:nvPr/>
        </p:nvSpPr>
        <p:spPr>
          <a:xfrm>
            <a:off x="553635" y="1541521"/>
            <a:ext cx="60890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much the heart is stressed during exercise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low Old peak values (near 0) mostly do not have heart disease.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Old peak increases, more orange dots appear, meaning a higher chance of heart disease.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patients with higher Old peak show a greater risk.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Old peak increases, the chance of heart disease increases </a:t>
            </a:r>
          </a:p>
        </p:txBody>
      </p:sp>
    </p:spTree>
    <p:extLst>
      <p:ext uri="{BB962C8B-B14F-4D97-AF65-F5344CB8AC3E}">
        <p14:creationId xmlns:p14="http://schemas.microsoft.com/office/powerpoint/2010/main" val="1411787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D39F-E05D-6FB9-2B21-F8C467D1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Exercise Angina vs Heart Disease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DEE50-FB25-EA49-6E36-7A7685B4E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1859" y="1760075"/>
            <a:ext cx="4519052" cy="33378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23F46-3340-2445-7940-6A12A5F7F5B8}"/>
              </a:ext>
            </a:extLst>
          </p:cNvPr>
          <p:cNvSpPr txBox="1"/>
          <p:nvPr/>
        </p:nvSpPr>
        <p:spPr>
          <a:xfrm>
            <a:off x="338203" y="1574883"/>
            <a:ext cx="63757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bar count plot shows the relationship between Exercise Angina and Heart Disease.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graph compares exercise angina (chest pain during exercise) with heart disease.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Exercise Angina = N (No angina during exercise):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 patients do not have heart disease.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Fewer patients have heart disease.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Exercise Angina = Y (Angina during exercise):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 patients have heart disease.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few patients do not have heart disease</a:t>
            </a:r>
          </a:p>
          <a:p>
            <a:endParaRPr lang="en-US" dirty="0"/>
          </a:p>
          <a:p>
            <a:r>
              <a:rPr lang="en-US" dirty="0"/>
              <a:t>Patients who experience angina during exercise are much more likely to have heart disease compared to those who do not experience angina.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71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76E4-9B3E-C34B-6C7E-097D77AB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1096"/>
            <a:ext cx="10353762" cy="415637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Heart Disease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630B8E-2F76-17DE-9DD6-C32FF91C8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6042" y="1651848"/>
            <a:ext cx="4334285" cy="25993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495C3-E08F-7583-4FE4-1C6EA33DF708}"/>
              </a:ext>
            </a:extLst>
          </p:cNvPr>
          <p:cNvSpPr txBox="1"/>
          <p:nvPr/>
        </p:nvSpPr>
        <p:spPr>
          <a:xfrm>
            <a:off x="444255" y="1289953"/>
            <a:ext cx="67586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represents a population that is high-risk.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explains why earlier plots (sex, cholesterol, age) show strong patterns.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Heart Disease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Improvements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 exercise (30–45 min/day)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salt, sugar, and oily food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fruits, vegetables, whole grains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Control Risk Factors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BP, Cholesterol, Blood Sugar especially after age 35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medication if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Stop smoking &amp; Reduce alcohol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Stress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Meditation, Yoga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sleep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 long-term untreated stress</a:t>
            </a:r>
          </a:p>
        </p:txBody>
      </p:sp>
    </p:spTree>
    <p:extLst>
      <p:ext uri="{BB962C8B-B14F-4D97-AF65-F5344CB8AC3E}">
        <p14:creationId xmlns:p14="http://schemas.microsoft.com/office/powerpoint/2010/main" val="20363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A185-313A-683D-F382-24B8AE8C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57" y="239184"/>
            <a:ext cx="10353762" cy="1777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/>
              <a:t>Heat Map</a:t>
            </a:r>
            <a:br>
              <a:rPr lang="en-US" sz="2400" dirty="0"/>
            </a:br>
            <a:br>
              <a:rPr lang="en-US" sz="2400" dirty="0"/>
            </a:b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73F36-3A32-9D29-94F5-8D9ED64BAB42}"/>
              </a:ext>
            </a:extLst>
          </p:cNvPr>
          <p:cNvSpPr txBox="1"/>
          <p:nvPr/>
        </p:nvSpPr>
        <p:spPr>
          <a:xfrm>
            <a:off x="232410" y="1798109"/>
            <a:ext cx="586359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heat map shows correlation between different health features and Heart Disease.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color indicates a strong positive relationships( one increases, the other increases).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color means a negative relationship (as one increases, the other decreases).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Light/white color means weak or no relationship.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71199-C287-A086-B5F1-BB7F891F6DF9}"/>
              </a:ext>
            </a:extLst>
          </p:cNvPr>
          <p:cNvSpPr txBox="1"/>
          <p:nvPr/>
        </p:nvSpPr>
        <p:spPr>
          <a:xfrm>
            <a:off x="450657" y="938269"/>
            <a:ext cx="9228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color-based chart that shows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of relationships between variables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A287B-5536-1041-57BA-2D8717842097}"/>
              </a:ext>
            </a:extLst>
          </p:cNvPr>
          <p:cNvSpPr txBox="1"/>
          <p:nvPr/>
        </p:nvSpPr>
        <p:spPr>
          <a:xfrm>
            <a:off x="378307" y="5573024"/>
            <a:ext cx="11435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visualization shows how different health factors like age, cholesterol, blood pressure, and exercise-induced angina are related to heart disease.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graphs and charts, we can easily compare patients with and without heart disease.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21AE494-8927-2751-9535-112C307A9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6153" y="1493352"/>
            <a:ext cx="4999153" cy="3871295"/>
          </a:xfrm>
        </p:spPr>
      </p:pic>
    </p:spTree>
    <p:extLst>
      <p:ext uri="{BB962C8B-B14F-4D97-AF65-F5344CB8AC3E}">
        <p14:creationId xmlns:p14="http://schemas.microsoft.com/office/powerpoint/2010/main" val="1406603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54F6-6DCE-E6D3-0834-00433877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77" y="195423"/>
            <a:ext cx="10353762" cy="519546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ENCODING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ED098-F264-8C08-9D75-EB7C6397F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5695" y="1933758"/>
            <a:ext cx="5540967" cy="41957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1215F5-EAF7-3F0C-271C-9F0908720A47}"/>
              </a:ext>
            </a:extLst>
          </p:cNvPr>
          <p:cNvSpPr txBox="1"/>
          <p:nvPr/>
        </p:nvSpPr>
        <p:spPr>
          <a:xfrm>
            <a:off x="427727" y="2154202"/>
            <a:ext cx="466825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convert binary categorical columns like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Angina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numeric values (0 and 1) so models can understand them.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get_dummies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multi-category columns 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ChestPain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Type, Resting ECG,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ST_Slope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creating separate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columns for each category.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946C3-C855-EB92-03F4-0D4105450CD6}"/>
              </a:ext>
            </a:extLst>
          </p:cNvPr>
          <p:cNvSpPr txBox="1"/>
          <p:nvPr/>
        </p:nvSpPr>
        <p:spPr>
          <a:xfrm>
            <a:off x="427727" y="786345"/>
            <a:ext cx="110129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converting categorical (text) data into numerical values. Machine learning models cannot understand text, so encoding is required. Encoding is an important data preprocessing step before model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8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1C61-134B-F968-40F1-8FD9F005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6" y="228128"/>
            <a:ext cx="9404723" cy="581143"/>
          </a:xfrm>
        </p:spPr>
        <p:txBody>
          <a:bodyPr/>
          <a:lstStyle/>
          <a:p>
            <a:pPr algn="ctr"/>
            <a:r>
              <a:rPr lang="en-US" sz="3200" b="1" dirty="0"/>
              <a:t>Machine Learning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355DE-1477-AEC2-65AE-E8571905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86" y="1904296"/>
            <a:ext cx="1163580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0" indent="0" latinLnBrk="1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is the process of choosing the most important input variables from a dataset. It helps improve model accuracy, reduce overfitting, and make the model faster and easier to understand.</a:t>
            </a:r>
          </a:p>
          <a:p>
            <a:pPr marL="0" indent="0" latinLnBrk="1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(X):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latinLnBrk="1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Sex,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RestingBP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Cholesterol,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FastingBS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MaxHR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ExerciseAngina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ChestPainType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(ASY, ATA, NAP, TA),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RestingECG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(LV, Normal, ST),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ST_Slope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(Down, Flat, Up).</a:t>
            </a:r>
          </a:p>
          <a:p>
            <a:pPr marL="0" indent="0" latinLnBrk="1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(Y):</a:t>
            </a:r>
          </a:p>
          <a:p>
            <a:pPr marL="0" indent="0" latinLnBrk="1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– indicates whether a patient has heart disease (Yes/No).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A3DAB-A41B-1C24-FEB4-221A9497D1FD}"/>
              </a:ext>
            </a:extLst>
          </p:cNvPr>
          <p:cNvSpPr txBox="1"/>
          <p:nvPr/>
        </p:nvSpPr>
        <p:spPr>
          <a:xfrm>
            <a:off x="264652" y="919507"/>
            <a:ext cx="10571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branch of Artificial Intelligence (AI) that allows computers to learn from data and make predictions or decisions without being explicitly programmed.</a:t>
            </a:r>
          </a:p>
        </p:txBody>
      </p:sp>
    </p:spTree>
    <p:extLst>
      <p:ext uri="{BB962C8B-B14F-4D97-AF65-F5344CB8AC3E}">
        <p14:creationId xmlns:p14="http://schemas.microsoft.com/office/powerpoint/2010/main" val="3497755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974A-4C99-5CED-6112-943B86C4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483"/>
            <a:ext cx="10353762" cy="513347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effectLst/>
              </a:rPr>
              <a:t>Logistic Regression</a:t>
            </a:r>
            <a:br>
              <a:rPr lang="en-US" b="1" dirty="0">
                <a:effectLst/>
              </a:rPr>
            </a:br>
            <a:endParaRPr lang="en-US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8588FC-7B61-31E0-5503-FEB0EB873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314" y="1666112"/>
            <a:ext cx="4803849" cy="3259930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78C9C65-6BBB-98D5-7D6F-FEB29D398731}"/>
              </a:ext>
            </a:extLst>
          </p:cNvPr>
          <p:cNvSpPr txBox="1"/>
          <p:nvPr/>
        </p:nvSpPr>
        <p:spPr>
          <a:xfrm>
            <a:off x="5987103" y="1474255"/>
            <a:ext cx="5280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divided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(80%)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(20%)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is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the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testing data is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 Shape: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(734, 18) → 734 records with 18 features for training.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(184,) → 184 target values for testing.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Logistic Regression Model: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(Yes/No, 0/1).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Predictions: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predicts outcomes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421B1-AD57-3160-B5A0-19097D76D663}"/>
              </a:ext>
            </a:extLst>
          </p:cNvPr>
          <p:cNvSpPr txBox="1"/>
          <p:nvPr/>
        </p:nvSpPr>
        <p:spPr>
          <a:xfrm>
            <a:off x="238897" y="958204"/>
            <a:ext cx="1152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a machine learning algorithm used for classification, mainly Yes/No (0/1) problems.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47B42-5914-3E48-340B-32AB783F1598}"/>
              </a:ext>
            </a:extLst>
          </p:cNvPr>
          <p:cNvSpPr txBox="1"/>
          <p:nvPr/>
        </p:nvSpPr>
        <p:spPr>
          <a:xfrm>
            <a:off x="439314" y="5398474"/>
            <a:ext cx="5122242" cy="100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20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F36556-CAF8-06B2-08AB-32102B15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05" y="1203404"/>
            <a:ext cx="4645647" cy="3581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680D59-FACB-0965-2554-76927261656F}"/>
              </a:ext>
            </a:extLst>
          </p:cNvPr>
          <p:cNvSpPr txBox="1"/>
          <p:nvPr/>
        </p:nvSpPr>
        <p:spPr>
          <a:xfrm>
            <a:off x="5390147" y="258901"/>
            <a:ext cx="62724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Accuracy Score:</a:t>
            </a:r>
          </a:p>
          <a:p>
            <a:r>
              <a:rPr lang="en-US" sz="1400" dirty="0"/>
              <a:t>	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0.87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shows how many predictions the model got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overall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compares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values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68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disease (0)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(1)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9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Positive)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15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Negative)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71B900-C8E4-8534-DC96-C11000B12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300924"/>
              </p:ext>
            </p:extLst>
          </p:nvPr>
        </p:nvGraphicFramePr>
        <p:xfrm>
          <a:off x="5591503" y="2994259"/>
          <a:ext cx="5873839" cy="990600"/>
        </p:xfrm>
        <a:graphic>
          <a:graphicData uri="http://schemas.openxmlformats.org/drawingml/2006/table">
            <a:tbl>
              <a:tblPr/>
              <a:tblGrid>
                <a:gridCol w="1172804">
                  <a:extLst>
                    <a:ext uri="{9D8B030D-6E8A-4147-A177-3AD203B41FA5}">
                      <a16:colId xmlns:a16="http://schemas.microsoft.com/office/drawing/2014/main" val="3403832377"/>
                    </a:ext>
                  </a:extLst>
                </a:gridCol>
                <a:gridCol w="1172804">
                  <a:extLst>
                    <a:ext uri="{9D8B030D-6E8A-4147-A177-3AD203B41FA5}">
                      <a16:colId xmlns:a16="http://schemas.microsoft.com/office/drawing/2014/main" val="3999956152"/>
                    </a:ext>
                  </a:extLst>
                </a:gridCol>
                <a:gridCol w="1176077">
                  <a:extLst>
                    <a:ext uri="{9D8B030D-6E8A-4147-A177-3AD203B41FA5}">
                      <a16:colId xmlns:a16="http://schemas.microsoft.com/office/drawing/2014/main" val="1058022895"/>
                    </a:ext>
                  </a:extLst>
                </a:gridCol>
                <a:gridCol w="1176077">
                  <a:extLst>
                    <a:ext uri="{9D8B030D-6E8A-4147-A177-3AD203B41FA5}">
                      <a16:colId xmlns:a16="http://schemas.microsoft.com/office/drawing/2014/main" val="3869051010"/>
                    </a:ext>
                  </a:extLst>
                </a:gridCol>
                <a:gridCol w="1176077">
                  <a:extLst>
                    <a:ext uri="{9D8B030D-6E8A-4147-A177-3AD203B41FA5}">
                      <a16:colId xmlns:a16="http://schemas.microsoft.com/office/drawing/2014/main" val="2467743411"/>
                    </a:ext>
                  </a:extLst>
                </a:gridCol>
              </a:tblGrid>
              <a:tr h="190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6018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 (No 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8692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 (Disease)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0576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AA8FC0-5ACA-7301-06F3-0E3A2A146796}"/>
              </a:ext>
            </a:extLst>
          </p:cNvPr>
          <p:cNvSpPr txBox="1"/>
          <p:nvPr/>
        </p:nvSpPr>
        <p:spPr>
          <a:xfrm>
            <a:off x="5390147" y="4152499"/>
            <a:ext cx="1087654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of all predicted positives, how many are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correct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Precision=TP/(TP+FP)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of all actual positives, how many the model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found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Recall=TP/(TP+FN)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 between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and recall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actual samples for each class.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7AF47-754B-A34A-4B51-63F7B088590D}"/>
              </a:ext>
            </a:extLst>
          </p:cNvPr>
          <p:cNvSpPr txBox="1"/>
          <p:nvPr/>
        </p:nvSpPr>
        <p:spPr>
          <a:xfrm>
            <a:off x="529390" y="258901"/>
            <a:ext cx="226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928930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47E5-03D8-43D7-5402-80E7A609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77" y="45721"/>
            <a:ext cx="10353762" cy="3529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effectLst/>
              </a:rPr>
              <a:t>Random Forest Classifier</a:t>
            </a: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60BCC-C260-7D22-C898-16D3581C8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05" y="713874"/>
            <a:ext cx="4446016" cy="31763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C2F6-A288-1D0D-6E49-B812D9B3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5" y="3801979"/>
            <a:ext cx="4446016" cy="3056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35242-1462-F784-AB20-74114E1B691B}"/>
              </a:ext>
            </a:extLst>
          </p:cNvPr>
          <p:cNvSpPr txBox="1"/>
          <p:nvPr/>
        </p:nvSpPr>
        <p:spPr>
          <a:xfrm>
            <a:off x="4912477" y="802105"/>
            <a:ext cx="6355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is a machine learning algorithm that makes predictions by combining the results of many decision trees.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DC0E5-CB94-50CB-59BF-0A94F1A5F4E5}"/>
              </a:ext>
            </a:extLst>
          </p:cNvPr>
          <p:cNvSpPr txBox="1"/>
          <p:nvPr/>
        </p:nvSpPr>
        <p:spPr>
          <a:xfrm>
            <a:off x="5538951" y="2002964"/>
            <a:ext cx="541282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0.87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67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disease (0)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(1)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Positive)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Negative)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AD0DFF-35C1-8836-8636-CCE2E19BF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48569"/>
              </p:ext>
            </p:extLst>
          </p:nvPr>
        </p:nvGraphicFramePr>
        <p:xfrm>
          <a:off x="5538951" y="4024705"/>
          <a:ext cx="5118539" cy="1057968"/>
        </p:xfrm>
        <a:graphic>
          <a:graphicData uri="http://schemas.openxmlformats.org/drawingml/2006/table">
            <a:tbl>
              <a:tblPr/>
              <a:tblGrid>
                <a:gridCol w="1174464">
                  <a:extLst>
                    <a:ext uri="{9D8B030D-6E8A-4147-A177-3AD203B41FA5}">
                      <a16:colId xmlns:a16="http://schemas.microsoft.com/office/drawing/2014/main" val="808529470"/>
                    </a:ext>
                  </a:extLst>
                </a:gridCol>
                <a:gridCol w="784019">
                  <a:extLst>
                    <a:ext uri="{9D8B030D-6E8A-4147-A177-3AD203B41FA5}">
                      <a16:colId xmlns:a16="http://schemas.microsoft.com/office/drawing/2014/main" val="2661023556"/>
                    </a:ext>
                  </a:extLst>
                </a:gridCol>
                <a:gridCol w="1053352">
                  <a:extLst>
                    <a:ext uri="{9D8B030D-6E8A-4147-A177-3AD203B41FA5}">
                      <a16:colId xmlns:a16="http://schemas.microsoft.com/office/drawing/2014/main" val="4099703629"/>
                    </a:ext>
                  </a:extLst>
                </a:gridCol>
                <a:gridCol w="1053352">
                  <a:extLst>
                    <a:ext uri="{9D8B030D-6E8A-4147-A177-3AD203B41FA5}">
                      <a16:colId xmlns:a16="http://schemas.microsoft.com/office/drawing/2014/main" val="61550572"/>
                    </a:ext>
                  </a:extLst>
                </a:gridCol>
                <a:gridCol w="1053352">
                  <a:extLst>
                    <a:ext uri="{9D8B030D-6E8A-4147-A177-3AD203B41FA5}">
                      <a16:colId xmlns:a16="http://schemas.microsoft.com/office/drawing/2014/main" val="1710973137"/>
                    </a:ext>
                  </a:extLst>
                </a:gridCol>
              </a:tblGrid>
              <a:tr h="25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861487"/>
                  </a:ext>
                </a:extLst>
              </a:tr>
              <a:tr h="406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 (No 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10391"/>
                  </a:ext>
                </a:extLst>
              </a:tr>
              <a:tr h="392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 (Disease)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098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069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839BF-C096-B856-0E56-E0EE978E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0209"/>
            <a:ext cx="10353762" cy="16042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effectLst/>
              </a:rPr>
              <a:t>Decision Tree Classifier</a:t>
            </a:r>
            <a:br>
              <a:rPr lang="en-US" dirty="0">
                <a:effectLst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E994A4-F6BC-FD01-3D02-E0AD5BF29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96" y="770021"/>
            <a:ext cx="4468683" cy="31121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DF710B-4EA8-6892-34D4-74F8E4BB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96" y="3882190"/>
            <a:ext cx="4468683" cy="2815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80B514-4FB1-19D4-DE14-EF1965653889}"/>
              </a:ext>
            </a:extLst>
          </p:cNvPr>
          <p:cNvSpPr txBox="1"/>
          <p:nvPr/>
        </p:nvSpPr>
        <p:spPr>
          <a:xfrm>
            <a:off x="5436156" y="836764"/>
            <a:ext cx="6491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machine learning algorithm that makes decisions by asking yes/no questions.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FC7AA-8D72-70AA-24F2-2128BA2183FF}"/>
              </a:ext>
            </a:extLst>
          </p:cNvPr>
          <p:cNvSpPr txBox="1"/>
          <p:nvPr/>
        </p:nvSpPr>
        <p:spPr>
          <a:xfrm>
            <a:off x="6032359" y="2035529"/>
            <a:ext cx="529883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0.87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68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disease (0)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(1)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Positive)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Negative)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Classification Report: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729FB8-9677-7108-830A-49BBBB6DE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97478"/>
              </p:ext>
            </p:extLst>
          </p:nvPr>
        </p:nvGraphicFramePr>
        <p:xfrm>
          <a:off x="6213231" y="4642338"/>
          <a:ext cx="5573484" cy="870413"/>
        </p:xfrm>
        <a:graphic>
          <a:graphicData uri="http://schemas.openxmlformats.org/drawingml/2006/table">
            <a:tbl>
              <a:tblPr/>
              <a:tblGrid>
                <a:gridCol w="1531148">
                  <a:extLst>
                    <a:ext uri="{9D8B030D-6E8A-4147-A177-3AD203B41FA5}">
                      <a16:colId xmlns:a16="http://schemas.microsoft.com/office/drawing/2014/main" val="77965653"/>
                    </a:ext>
                  </a:extLst>
                </a:gridCol>
                <a:gridCol w="1010584">
                  <a:extLst>
                    <a:ext uri="{9D8B030D-6E8A-4147-A177-3AD203B41FA5}">
                      <a16:colId xmlns:a16="http://schemas.microsoft.com/office/drawing/2014/main" val="2205078340"/>
                    </a:ext>
                  </a:extLst>
                </a:gridCol>
                <a:gridCol w="1010584">
                  <a:extLst>
                    <a:ext uri="{9D8B030D-6E8A-4147-A177-3AD203B41FA5}">
                      <a16:colId xmlns:a16="http://schemas.microsoft.com/office/drawing/2014/main" val="3630135290"/>
                    </a:ext>
                  </a:extLst>
                </a:gridCol>
                <a:gridCol w="1010584">
                  <a:extLst>
                    <a:ext uri="{9D8B030D-6E8A-4147-A177-3AD203B41FA5}">
                      <a16:colId xmlns:a16="http://schemas.microsoft.com/office/drawing/2014/main" val="1443761705"/>
                    </a:ext>
                  </a:extLst>
                </a:gridCol>
                <a:gridCol w="1010584">
                  <a:extLst>
                    <a:ext uri="{9D8B030D-6E8A-4147-A177-3AD203B41FA5}">
                      <a16:colId xmlns:a16="http://schemas.microsoft.com/office/drawing/2014/main" val="427353948"/>
                    </a:ext>
                  </a:extLst>
                </a:gridCol>
              </a:tblGrid>
              <a:tr h="292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831003"/>
                  </a:ext>
                </a:extLst>
              </a:tr>
              <a:tr h="28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 (No 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822285"/>
                  </a:ext>
                </a:extLst>
              </a:tr>
              <a:tr h="28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 (Disease)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39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823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DD18-4058-D3FB-22A3-5F167A3E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08" y="48126"/>
            <a:ext cx="10353762" cy="1443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K-Nearest Neighbors (KNN) Classifier</a:t>
            </a:r>
            <a:br>
              <a:rPr lang="en-US" sz="3200" dirty="0">
                <a:effectLst/>
              </a:rPr>
            </a:br>
            <a:endParaRPr lang="en-US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5797F-083F-B47E-EFBB-21E960D54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205" y="681789"/>
            <a:ext cx="4027174" cy="296778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650A2E-5F1A-DCE4-BC14-88A5F728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05" y="3649578"/>
            <a:ext cx="4027174" cy="3088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825101-51A2-797F-1E23-9383F8D32FA5}"/>
              </a:ext>
            </a:extLst>
          </p:cNvPr>
          <p:cNvSpPr txBox="1"/>
          <p:nvPr/>
        </p:nvSpPr>
        <p:spPr>
          <a:xfrm>
            <a:off x="5174730" y="974690"/>
            <a:ext cx="6732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is a machine learning algorithm that classifies a data point based on the nearest data points around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F93BF-3569-1843-A50B-A260DD9678EE}"/>
              </a:ext>
            </a:extLst>
          </p:cNvPr>
          <p:cNvSpPr txBox="1"/>
          <p:nvPr/>
        </p:nvSpPr>
        <p:spPr>
          <a:xfrm>
            <a:off x="5888334" y="2122714"/>
            <a:ext cx="561446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0.85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68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disease (0)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90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Correctly predicted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(1)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Wrong prediction (False Positive)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17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Wrong prediction (False Negative)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6966A7-7722-EEB6-FDA6-F1B803AF8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4538"/>
              </p:ext>
            </p:extLst>
          </p:nvPr>
        </p:nvGraphicFramePr>
        <p:xfrm>
          <a:off x="6267939" y="4711141"/>
          <a:ext cx="5458153" cy="1080059"/>
        </p:xfrm>
        <a:graphic>
          <a:graphicData uri="http://schemas.openxmlformats.org/drawingml/2006/table">
            <a:tbl>
              <a:tblPr/>
              <a:tblGrid>
                <a:gridCol w="1242646">
                  <a:extLst>
                    <a:ext uri="{9D8B030D-6E8A-4147-A177-3AD203B41FA5}">
                      <a16:colId xmlns:a16="http://schemas.microsoft.com/office/drawing/2014/main" val="354257053"/>
                    </a:ext>
                  </a:extLst>
                </a:gridCol>
                <a:gridCol w="846831">
                  <a:extLst>
                    <a:ext uri="{9D8B030D-6E8A-4147-A177-3AD203B41FA5}">
                      <a16:colId xmlns:a16="http://schemas.microsoft.com/office/drawing/2014/main" val="629132048"/>
                    </a:ext>
                  </a:extLst>
                </a:gridCol>
                <a:gridCol w="1122892">
                  <a:extLst>
                    <a:ext uri="{9D8B030D-6E8A-4147-A177-3AD203B41FA5}">
                      <a16:colId xmlns:a16="http://schemas.microsoft.com/office/drawing/2014/main" val="2711494574"/>
                    </a:ext>
                  </a:extLst>
                </a:gridCol>
                <a:gridCol w="1122892">
                  <a:extLst>
                    <a:ext uri="{9D8B030D-6E8A-4147-A177-3AD203B41FA5}">
                      <a16:colId xmlns:a16="http://schemas.microsoft.com/office/drawing/2014/main" val="1430616106"/>
                    </a:ext>
                  </a:extLst>
                </a:gridCol>
                <a:gridCol w="1122892">
                  <a:extLst>
                    <a:ext uri="{9D8B030D-6E8A-4147-A177-3AD203B41FA5}">
                      <a16:colId xmlns:a16="http://schemas.microsoft.com/office/drawing/2014/main" val="2733293137"/>
                    </a:ext>
                  </a:extLst>
                </a:gridCol>
              </a:tblGrid>
              <a:tr h="340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06890"/>
                  </a:ext>
                </a:extLst>
              </a:tr>
              <a:tr h="356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 (No 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97790"/>
                  </a:ext>
                </a:extLst>
              </a:tr>
              <a:tr h="382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 (Disease)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0.87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624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041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EE47-CFF2-BAA7-1295-DA8BA8EB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227" y="188795"/>
            <a:ext cx="10353762" cy="63007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Comparison of Machine Learning Model Accuracies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6F2E9A-0038-D956-1461-445C1FC78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4041" y="1405171"/>
            <a:ext cx="4169274" cy="37147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7A3553-386E-44B1-4724-44C44111E912}"/>
              </a:ext>
            </a:extLst>
          </p:cNvPr>
          <p:cNvSpPr txBox="1"/>
          <p:nvPr/>
        </p:nvSpPr>
        <p:spPr>
          <a:xfrm>
            <a:off x="408684" y="1405171"/>
            <a:ext cx="69210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bar chart compares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different machine learning models.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accuracy (87.5%)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it performs the best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similar accuracy (86.9%).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Classifier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slightly lower accuracy (86.4%).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tested models, the Random Forest Classifier performed the best with an accuracy of 87.5%. This shows that machine learning can reliably predict heart disease, helping in early detection and better healthcare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66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2724-47F0-882A-C5E8-219CF48C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98652"/>
            <a:ext cx="10353762" cy="125730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66CB43-A53E-4951-6D54-F41308604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023" y="1862130"/>
            <a:ext cx="1168460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demonstrated how machine learning can effectively predict heart disease using patient health data. </a:t>
            </a:r>
            <a:endParaRPr lang="en-US" sz="20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Factors: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 sex, chest pain type (especially asymptomatic cases), cholesterol, and blood sugar are strong indicators of heart disease risk. Men and individuals aged 50–60 are at highest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handling of missing values and encoding categorical data allowed models to learn patterns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Logistic Regression, Decision Tree, K-Nearest Neighbors, and Random Forest, the Random Forest Classifier achieved the highest accuracy (87.5%), showing reliable prediction capability.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Impact: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Early prediction using these models can help doctors identify high-risk patients sooner, enabling timely interventions, lifestyle guidance, and treatment to prevent severe outcomes.</a:t>
            </a:r>
          </a:p>
        </p:txBody>
      </p:sp>
    </p:spTree>
    <p:extLst>
      <p:ext uri="{BB962C8B-B14F-4D97-AF65-F5344CB8AC3E}">
        <p14:creationId xmlns:p14="http://schemas.microsoft.com/office/powerpoint/2010/main" val="209638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8530-5BE8-527F-BCFB-30F8497B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86" y="2257646"/>
            <a:ext cx="10353762" cy="1257300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7498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1301</TotalTime>
  <Words>3008</Words>
  <Application>Microsoft Office PowerPoint</Application>
  <PresentationFormat>Widescreen</PresentationFormat>
  <Paragraphs>421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Introduction</vt:lpstr>
      <vt:lpstr>Objective &amp; Problem Statement</vt:lpstr>
      <vt:lpstr>PowerPoint Presentation</vt:lpstr>
      <vt:lpstr>DATA CLEANING</vt:lpstr>
      <vt:lpstr>visualization</vt:lpstr>
      <vt:lpstr>Heart Disease Distribution by Age </vt:lpstr>
      <vt:lpstr>Heart Disease by Chest Pain Type </vt:lpstr>
      <vt:lpstr>Heart Disease by Sex </vt:lpstr>
      <vt:lpstr>Cholesterol Distribution </vt:lpstr>
      <vt:lpstr>Fasting Blood Sugar</vt:lpstr>
      <vt:lpstr>Resting ECG Results </vt:lpstr>
      <vt:lpstr>ST Slope vs Heart Disease</vt:lpstr>
      <vt:lpstr>Maximum Heart Rate (MaxHR) </vt:lpstr>
      <vt:lpstr>Old peak vs Heart Disease</vt:lpstr>
      <vt:lpstr>Exercise Angina vs Heart Disease </vt:lpstr>
      <vt:lpstr>Heart Disease Distribution</vt:lpstr>
      <vt:lpstr>Heat Map  </vt:lpstr>
      <vt:lpstr>ENCODING</vt:lpstr>
      <vt:lpstr>Machine Learning </vt:lpstr>
      <vt:lpstr>Logistic Regression </vt:lpstr>
      <vt:lpstr>PowerPoint Presentation</vt:lpstr>
      <vt:lpstr>Random Forest Classifier </vt:lpstr>
      <vt:lpstr>Decision Tree Classifier </vt:lpstr>
      <vt:lpstr>K-Nearest Neighbors (KNN) Classifier </vt:lpstr>
      <vt:lpstr>Comparison of Machine Learning Model Accuracies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41</cp:revision>
  <dcterms:created xsi:type="dcterms:W3CDTF">2025-12-15T11:06:59Z</dcterms:created>
  <dcterms:modified xsi:type="dcterms:W3CDTF">2025-12-19T04:29:25Z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